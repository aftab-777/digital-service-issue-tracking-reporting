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8f7e40410e4a6e" /><Relationship Type="http://schemas.openxmlformats.org/officeDocument/2006/relationships/extended-properties" Target="/docProps/app.xml" Id="R0a408dff2d4742c6" /><Relationship Type="http://schemas.openxmlformats.org/officeDocument/2006/relationships/officeDocument" Target="/ppt/presentation.xml" Id="R676b0af3a22f46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270f529a454edc"/>
  </p:sldMasterIdLst>
  <p:notesMasterIdLst>
    <p:notesMasterId xmlns:r="http://schemas.openxmlformats.org/officeDocument/2006/relationships" r:id="Rdaae39674f724a3d"/>
  </p:notesMasterIdLst>
  <p:sldIdLst>
    <p:sldId xmlns:r="http://schemas.openxmlformats.org/officeDocument/2006/relationships" id="256" r:id="Rf6abd695a43b46f7"/>
    <p:sldId xmlns:r="http://schemas.openxmlformats.org/officeDocument/2006/relationships" id="257" r:id="R82dda06558694730"/>
    <p:sldId xmlns:r="http://schemas.openxmlformats.org/officeDocument/2006/relationships" id="258" r:id="R49c17e6b39154747"/>
    <p:sldId xmlns:r="http://schemas.openxmlformats.org/officeDocument/2006/relationships" id="259" r:id="R15a5ee4e743744a5"/>
    <p:sldId xmlns:r="http://schemas.openxmlformats.org/officeDocument/2006/relationships" id="260" r:id="Ree0af162535448e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d386b7fc834e5d" /><Relationship Type="http://schemas.openxmlformats.org/officeDocument/2006/relationships/slideMaster" Target="/ppt/slideMasters/slideMaster1.xml" Id="Rc9270f529a454edc" /><Relationship Type="http://schemas.openxmlformats.org/officeDocument/2006/relationships/notesMaster" Target="/ppt/notesMasters/notesMaster1.xml" Id="Rdaae39674f724a3d" /><Relationship Type="http://schemas.openxmlformats.org/officeDocument/2006/relationships/presProps" Target="/ppt/presProps.xml" Id="R585f53a73bb74f62" /><Relationship Type="http://schemas.openxmlformats.org/officeDocument/2006/relationships/tableStyles" Target="/ppt/tableStyles.xml" Id="R5a1c5da8b37c4acf" /><Relationship Type="http://schemas.openxmlformats.org/officeDocument/2006/relationships/slide" Target="/ppt/slides/slide1.xml" Id="Rf6abd695a43b46f7" /><Relationship Type="http://schemas.openxmlformats.org/officeDocument/2006/relationships/slide" Target="/ppt/slides/slide2.xml" Id="R82dda06558694730" /><Relationship Type="http://schemas.openxmlformats.org/officeDocument/2006/relationships/slide" Target="/ppt/slides/slide3.xml" Id="R49c17e6b39154747" /><Relationship Type="http://schemas.openxmlformats.org/officeDocument/2006/relationships/slide" Target="/ppt/slides/slide4.xml" Id="R15a5ee4e743744a5" /><Relationship Type="http://schemas.openxmlformats.org/officeDocument/2006/relationships/slide" Target="/ppt/slides/slide5.xml" Id="Ree0af162535448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6e8accda4945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perations Request Tracker">
  <a:themeElements>
    <a:clrScheme name="Operations Request Track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perations Request Track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bb351ad06946e2" /><Relationship Type="http://schemas.openxmlformats.org/officeDocument/2006/relationships/notesMaster" Target="/ppt/notesMasters/notesMaster1.xml" Id="R7a1a8d4c629c41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68a5c539fe43fb" /><Relationship Type="http://schemas.openxmlformats.org/officeDocument/2006/relationships/notesMaster" Target="/ppt/notesMasters/notesMaster1.xml" Id="Rf081e8ba4f624c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872eb723f34bd8" /><Relationship Type="http://schemas.openxmlformats.org/officeDocument/2006/relationships/notesMaster" Target="/ppt/notesMasters/notesMaster1.xml" Id="R38627531f9994e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dbc609c7bb4f75" /><Relationship Type="http://schemas.openxmlformats.org/officeDocument/2006/relationships/notesMaster" Target="/ppt/notesMasters/notesMaster1.xml" Id="R6d6c218d683042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2d857fa0784cef" /><Relationship Type="http://schemas.openxmlformats.org/officeDocument/2006/relationships/notesMaster" Target="/ppt/notesMasters/notesMaster1.xml" Id="R84b4f6b436b848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personal portfolio simulation. The requests and roles are fictional; no real team supplied data or approved the suggested process.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figures are from the synthetic Requests records and the workbook Summary at 7 October 2026. Open is any status other than Completed. Overdue is open with target before the as-of date.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two inconsistent records were deliberately included to test quality checks. Do not silently change source information in real use. The counts describe synthetic requests, not measured operational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proposed 20-minute weekly review and four-week trial are effort assumptions, not observed costs or benefits. The recommendation follows from 9 overdue, 6 blocked, 2 missing-owner and 2 inconsistent records.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manager in this fictional exercise would name a coordinator and approve the review. No actual manager or stakeholder has been asked, and no decision has been made.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85d86d1e2749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c8d9a373464f91" /><Relationship Type="http://schemas.openxmlformats.org/officeDocument/2006/relationships/slideLayout" Target="/ppt/slideLayouts/slideLayout1.xml" Id="R50b0b67eb68149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b0b67eb68149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perations Request Tracker">
  <a:themeElements>
    <a:clrScheme name="Operations Request Track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perations Request Track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92138109124976" /><Relationship Type="http://schemas.openxmlformats.org/officeDocument/2006/relationships/notesSlide" Target="/ppt/notesSlides/notesSlide1.xml" Id="Rddca8a77309447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87dd17c98c4028" /><Relationship Type="http://schemas.openxmlformats.org/officeDocument/2006/relationships/notesSlide" Target="/ppt/notesSlides/notesSlide2.xml" Id="R9af1fcaf9c7047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2939f6c7cd4e3d" /><Relationship Type="http://schemas.openxmlformats.org/officeDocument/2006/relationships/notesSlide" Target="/ppt/notesSlides/notesSlide3.xml" Id="R58fd086d40584f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9ecc370b66498d" /><Relationship Type="http://schemas.openxmlformats.org/officeDocument/2006/relationships/notesSlide" Target="/ppt/notesSlides/notesSlide4.xml" Id="R62480a04dbfc43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7555e2fa814421" /><Relationship Type="http://schemas.openxmlformats.org/officeDocument/2006/relationships/notesSlide" Target="/ppt/notesSlides/notesSlide5.xml" Id="R3b3c483d64a24d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843E19-DDAD-4A06-9364-48822BA4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Operations Request Tracker and Reporting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05A8B2-CB50-494C-B00B-051F0D44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7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717E"/>
                </a:solidFill>
                <a:latin typeface="Arial"/>
                <a:ea typeface="Arial"/>
                <a:cs typeface="Arial"/>
              </a:rPr>
              <a:t>Personal portfolio simulation  |  Synthetic data  |  7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F62844-5DA6-4D88-A9AC-D06D49D0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62769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A7F7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A7F7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04D7D8-1667-4720-A49C-AB3FC2C9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287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F34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3443"/>
                </a:solidFill>
                <a:latin typeface="Arial"/>
                <a:ea typeface="Arial"/>
                <a:cs typeface="Arial"/>
              </a:rPr>
              <a:t>Teams receiving requests through different channels need one reliable view of owners, target dates and next actions.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D63F11-42CA-4FFB-A571-C8D77E87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8572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A7F7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A7F7F"/>
                </a:solidFill>
                <a:latin typeface="Arial"/>
                <a:ea typeface="Arial"/>
                <a:cs typeface="Arial"/>
              </a:rPr>
              <a:t>The reporting 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F7CB47-B91E-4D71-A6C5-EAF7FD98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F344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F3443"/>
                </a:solidFill>
                <a:latin typeface="Arial"/>
                <a:ea typeface="Arial"/>
                <a:cs typeface="Arial"/>
              </a:rPr>
              <a:t>Which items need manager attention now, and which records need correction before we trust the report?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03FEDB-A400-4AB8-9098-D6873F70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8717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717E"/>
                </a:solidFill>
                <a:latin typeface="Arial"/>
                <a:ea typeface="Arial"/>
                <a:cs typeface="Arial"/>
              </a:rPr>
              <a:t>Scope: 36 fabricated requests received 1 September to 6 October 2026.</a:t>
            </a:r>
          </a:p>
        </p:txBody>
      </p:sp>
    </p:spTree>
    <p:extLst>
      <p:ext uri="{BB962C8B-B14F-4D97-AF65-F5344CB8AC3E}">
        <p14:creationId xmlns:p14="http://schemas.microsoft.com/office/powerpoint/2010/main" val="16460520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1E0A4D-2BF2-4063-A9EA-F89946E5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Main findings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EA189D-12A3-4593-93D3-C7916301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7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717E"/>
                </a:solidFill>
                <a:latin typeface="Arial"/>
                <a:ea typeface="Arial"/>
                <a:cs typeface="Arial"/>
              </a:rPr>
              <a:t>Personal portfolio simulation  |  Synthetic data  |  7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F739EF-F89E-4219-AD47-F6979460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62769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A7F7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A7F7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028511-0F8F-4FB3-A0AF-BF432BD8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B5B463-782E-4330-9504-5C7E8A37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8717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717E"/>
                </a:solidFill>
                <a:latin typeface="Arial"/>
                <a:ea typeface="Arial"/>
                <a:cs typeface="Arial"/>
              </a:rPr>
              <a:t>total requests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51B61A-0C12-4811-B952-4E67F2C3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1925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E9476B-21BD-4233-95A3-448819C5D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431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8717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717E"/>
                </a:solidFill>
                <a:latin typeface="Arial"/>
                <a:ea typeface="Arial"/>
                <a:cs typeface="Arial"/>
              </a:rPr>
              <a:t>open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B211AD-7732-412E-A2BA-EDF3E2E84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1925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A75B18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A75B18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8D8C99-35CA-48DC-941C-7B93EC8E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431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8717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717E"/>
                </a:solidFill>
                <a:latin typeface="Arial"/>
                <a:ea typeface="Arial"/>
                <a:cs typeface="Arial"/>
              </a:rPr>
              <a:t>overdue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55E0FC-5996-478E-8061-53F2CD18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1925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A75B18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A75B1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316332-7A08-40A4-9520-C592E7A9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431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8717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717E"/>
                </a:solidFill>
                <a:latin typeface="Arial"/>
                <a:ea typeface="Arial"/>
                <a:cs typeface="Arial"/>
              </a:rPr>
              <a:t>blocked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ECD513-D1E8-47FC-9EF4-8168FE4F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F34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F3443"/>
                </a:solidFill>
                <a:latin typeface="Arial"/>
                <a:ea typeface="Arial"/>
                <a:cs typeface="Arial"/>
              </a:rPr>
              <a:t>Status breakdown: 7 New   9 In Progress   6 Blocked   14 Completed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2B2C87-E3A1-4F61-B05A-1ECEEDF1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8717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8717E"/>
                </a:solidFill>
                <a:latin typeface="Arial"/>
                <a:ea typeface="Arial"/>
                <a:cs typeface="Arial"/>
              </a:rPr>
              <a:t>Blocked and overdue groups can overlap. Completed items are excluded from the open count.</a:t>
            </a:r>
          </a:p>
        </p:txBody>
      </p:sp>
    </p:spTree>
    <p:extLst>
      <p:ext uri="{BB962C8B-B14F-4D97-AF65-F5344CB8AC3E}">
        <p14:creationId xmlns:p14="http://schemas.microsoft.com/office/powerpoint/2010/main" val="17416956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929973-920E-4DA4-9014-1B5CE2B6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Important issues and risks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B626D4-F062-4441-9A15-1F0C9EC6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7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717E"/>
                </a:solidFill>
                <a:latin typeface="Arial"/>
                <a:ea typeface="Arial"/>
                <a:cs typeface="Arial"/>
              </a:rPr>
              <a:t>Personal portfolio simulation  |  Synthetic data  |  7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968FB6-F080-4BF1-BB18-2F51F2BA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62769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A7F7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A7F7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9A64B4-A9BE-4436-8E53-0F751FE6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2 requests have no owner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C2EAE1-1331-4E3D-AFF2-BA72CF8E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05025"/>
            <a:ext cx="1019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F34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F3443"/>
                </a:solidFill>
                <a:latin typeface="Arial"/>
                <a:ea typeface="Arial"/>
                <a:cs typeface="Arial"/>
              </a:rPr>
              <a:t>DS-021 and DS-032 need an assignment before follow-up is accountable.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236D80-892F-4EED-833D-6C89E910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2 records need data correction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2013D3-9D6D-43C2-82E1-1DEE7524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10287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F34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F3443"/>
                </a:solidFill>
                <a:latin typeface="Arial"/>
                <a:ea typeface="Arial"/>
                <a:cs typeface="Arial"/>
              </a:rPr>
              <a:t>DS-033 lacks a closed date. DS-034 has an impossible target date and is counted overdue pending correction.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1DB69B-97CE-42BD-BF69-8E7FABED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8717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8717E"/>
                </a:solidFill>
                <a:latin typeface="Arial"/>
                <a:ea typeface="Arial"/>
                <a:cs typeface="Arial"/>
              </a:rPr>
              <a:t>6 open requests have High priority. Targets are planning assumptions, not official service standards.</a:t>
            </a:r>
          </a:p>
        </p:txBody>
      </p:sp>
    </p:spTree>
    <p:extLst>
      <p:ext uri="{BB962C8B-B14F-4D97-AF65-F5344CB8AC3E}">
        <p14:creationId xmlns:p14="http://schemas.microsoft.com/office/powerpoint/2010/main" val="16548845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D67FA5-AA9E-4E0F-B446-52028D08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Options for manager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AB3B1B-905A-4FC9-9DE8-D9E308D2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7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717E"/>
                </a:solidFill>
                <a:latin typeface="Arial"/>
                <a:ea typeface="Arial"/>
                <a:cs typeface="Arial"/>
              </a:rPr>
              <a:t>Personal portfolio simulation  |  Synthetic data  |  7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0EAC94-45DF-46BA-A794-B477D8EE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62769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A7F7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A7F7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79BED8-B11A-420F-81B9-141C02A8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47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Option 1  Informal follow-up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EC0119-A50B-45DD-A11E-4D8901F4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9547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F34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F3443"/>
                </a:solidFill>
                <a:latin typeface="Arial"/>
                <a:ea typeface="Arial"/>
                <a:cs typeface="Arial"/>
              </a:rPr>
              <a:t>Low coordination effort; exceptions may remain unclear.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EE3294-AB8D-4962-8C35-30150D81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47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A7F7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A7F7F"/>
                </a:solidFill>
                <a:latin typeface="Arial"/>
                <a:ea typeface="Arial"/>
                <a:cs typeface="Arial"/>
              </a:rPr>
              <a:t>Option 2  Weekly owner-led exception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68DFC4-D51F-4F9D-B0D4-62918821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F34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F3443"/>
                </a:solidFill>
                <a:latin typeface="Arial"/>
                <a:ea typeface="Arial"/>
                <a:cs typeface="Arial"/>
              </a:rPr>
              <a:t>Review overdue and blocked items, assign missing owners and repair flagged fields.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12527D-141E-4F93-96E1-F3A8926B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1047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Option 3  Automate reminders now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0119DA-D658-4357-A1A9-E8D24A80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F34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F3443"/>
                </a:solidFill>
                <a:latin typeface="Arial"/>
                <a:ea typeface="Arial"/>
                <a:cs typeface="Arial"/>
              </a:rPr>
              <a:t>Could standardize prompts, but status and target rules have not been confirmed.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E8C506-7D07-4128-934A-938B5357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A7F7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A7F7F"/>
                </a:solidFill>
                <a:latin typeface="Arial"/>
                <a:ea typeface="Arial"/>
                <a:cs typeface="Arial"/>
              </a:rPr>
              <a:t>Recommendation: trial option 2 for four weeks before considering automation.</a:t>
            </a:r>
          </a:p>
        </p:txBody>
      </p:sp>
    </p:spTree>
    <p:extLst>
      <p:ext uri="{BB962C8B-B14F-4D97-AF65-F5344CB8AC3E}">
        <p14:creationId xmlns:p14="http://schemas.microsoft.com/office/powerpoint/2010/main" val="8280305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8A60EA-6483-43A5-9EF7-8E3F76F3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Next actions and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CA42BF-5CCE-4568-9323-4A192633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7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717E"/>
                </a:solidFill>
                <a:latin typeface="Arial"/>
                <a:ea typeface="Arial"/>
                <a:cs typeface="Arial"/>
              </a:rPr>
              <a:t>Personal portfolio simulation  |  Synthetic data  |  7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93C109-15A5-4BFC-8173-37A3ED52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62769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A7F7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A7F7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9894FC-ADE2-4FC4-8EBC-9E186551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F34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F3443"/>
                </a:solidFill>
                <a:latin typeface="Arial"/>
                <a:ea typeface="Arial"/>
                <a:cs typeface="Arial"/>
              </a:rPr>
              <a:t>1  Assign owners to DS-021 and DS-032.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6CE5DC-A3AA-4D92-9006-69CA55D2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F34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F3443"/>
                </a:solidFill>
                <a:latin typeface="Arial"/>
                <a:ea typeface="Arial"/>
                <a:cs typeface="Arial"/>
              </a:rPr>
              <a:t>2  Review overdue and blocked items with their fictional role owners.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288DA7-6972-4F53-A71D-44EA5461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F34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F3443"/>
                </a:solidFill>
                <a:latin typeface="Arial"/>
                <a:ea typeface="Arial"/>
                <a:cs typeface="Arial"/>
              </a:rPr>
              <a:t>3  Verify DS-033 and DS-034 before correcting the tracker.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1FDC8E-AC1B-4E93-A2DC-511C2F9E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A7F7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A7F7F"/>
                </a:solidFill>
                <a:latin typeface="Arial"/>
                <a:ea typeface="Arial"/>
                <a:cs typeface="Arial"/>
              </a:rPr>
              <a:t>Decision required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CC3CEC-590F-4D89-BC6B-7DFB500B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F34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F3443"/>
                </a:solidFill>
                <a:latin typeface="Arial"/>
                <a:ea typeface="Arial"/>
                <a:cs typeface="Arial"/>
              </a:rPr>
              <a:t>Approve or decline a four-week weekly review and agree how target changes and unresolved blockers will be recorded.</a:t>
            </a:r>
          </a:p>
        </p:txBody>
      </p:sp>
    </p:spTree>
    <p:extLst>
      <p:ext uri="{BB962C8B-B14F-4D97-AF65-F5344CB8AC3E}">
        <p14:creationId xmlns:p14="http://schemas.microsoft.com/office/powerpoint/2010/main" val="1307476027"/>
      </p:ext>
    </p:extLst>
  </p:cSld>
</p:sld>
</file>

<file path=ppt/theme/theme1.xml><?xml version="1.0" encoding="utf-8"?>
<a:theme xmlns:a="http://schemas.openxmlformats.org/drawingml/2006/main" name="Operations Request Tracker">
  <a:themeElements>
    <a:clrScheme name="Operations Request Track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perations Request Track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PresentationFormat>Converted Presentation</ap:PresentationFormat>
  <ap:Slides>5</ap:Slides>
  <ap:Notes>5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Operations Request Tracker and Reporting</dc:title>
  <dcterms:created xsi:type="dcterms:W3CDTF">2026-10-08T05:03:05.0800000Z</dcterms:created>
  <dcterms:modified xsi:type="dcterms:W3CDTF">2026-10-08T05:03:05.0810000Z</dcterms:modified>
</coreProperties>
</file>